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A6ADBA-60EB-41D1-BE16-6E0DCC5AB70D}">
  <a:tblStyle styleId="{F6A6ADBA-60EB-41D1-BE16-6E0DCC5AB70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77ff1299a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77ff1299a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977ff1299a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79085a1dc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979085a1dc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979085a1dc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Bugs 1 and 2 are detected through whitebox tests </a:t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77ff1299a_0_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977ff1299a_0_1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977ff1299a_0_1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979085a1dc_3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979085a1dc_3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coverage run --branch --omit="tests/*" -m pytest tests/ -v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coverage 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start htmlcov/index.html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979085a1dc_3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Testing a Pure Python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Game Engine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Software Testing &amp; Debugging — Course Project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Nishanth Naik  &amp;  Hsuan Wang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April 22,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4572000"/>
            <a:ext cx="109728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41C3D"/>
                </a:solidFill>
                <a:latin typeface="Georgia"/>
                <a:ea typeface="Georgia"/>
                <a:cs typeface="Georgia"/>
                <a:sym typeface="Georgia"/>
              </a:rPr>
              <a:t>Agenda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463040" y="137160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rPr>
              <a:t>Intro to the SUT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463040" y="164592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is pure-python-game-engine?  —  2–3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463040" y="228600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rPr>
              <a:t>Testing Approach &amp; Results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463040" y="256032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Blackbox, combinatorial, 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whitebox, mutation testing  —  8–10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31520" y="3200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463040" y="320040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rPr>
              <a:t>Faults Discovered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463040" y="347472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Real bugs found in the SUT  —  2–3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463040" y="411480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rPr>
              <a:t>Conclusion &amp; Q&amp;A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463040" y="438912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Key takeaways &amp; lessons learned  —  2–3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3D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S</a:t>
            </a:r>
            <a:r>
              <a:rPr b="1" lang="en-US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ystem</a:t>
            </a: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Under Test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1005840" y="132588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4A90D9"/>
                </a:solidFill>
                <a:latin typeface="Courier New"/>
                <a:ea typeface="Courier New"/>
                <a:cs typeface="Courier New"/>
                <a:sym typeface="Courier New"/>
              </a:rPr>
              <a:t>pure-python-game-engine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1005840" y="182880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github.com/jeremystevens/pure-python-game-engine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731520" y="2606040"/>
            <a:ext cx="36576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731520" y="2606040"/>
            <a:ext cx="54864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914400" y="26060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914400" y="292608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Desktop application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2D game engine library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63440" y="2606040"/>
            <a:ext cx="36576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4663440" y="2606040"/>
            <a:ext cx="54864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846320" y="26060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846320" y="292608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Cross-platform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(Windows, macOS, Linux)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731520" y="3749040"/>
            <a:ext cx="36576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731520" y="3749040"/>
            <a:ext cx="54864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914400" y="37490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14400" y="406908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Python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tkinter for rendering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663440" y="3749040"/>
            <a:ext cx="36576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663440" y="3749040"/>
            <a:ext cx="54864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846320" y="37490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846320" y="406908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Indie game developers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Python learners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41C3D"/>
                </a:solidFill>
                <a:latin typeface="Georgia"/>
                <a:ea typeface="Georgia"/>
                <a:cs typeface="Georgia"/>
                <a:sym typeface="Georgia"/>
              </a:rPr>
              <a:t>Engine Modules Tested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731520" y="1280160"/>
            <a:ext cx="3840480" cy="1005840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731520" y="1280160"/>
            <a:ext cx="54864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960120" y="12801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41C3D"/>
                </a:solidFill>
                <a:latin typeface="Courier New"/>
                <a:ea typeface="Courier New"/>
                <a:cs typeface="Courier New"/>
                <a:sym typeface="Courier New"/>
              </a:rPr>
              <a:t>math/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960120" y="166420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Vector2, Vector3, Quaternion, Transform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846320" y="1280160"/>
            <a:ext cx="3840480" cy="1005840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846320" y="1280160"/>
            <a:ext cx="54864" cy="100584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5074920" y="12801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41C3D"/>
                </a:solidFill>
                <a:latin typeface="Courier New"/>
                <a:ea typeface="Courier New"/>
                <a:cs typeface="Courier New"/>
                <a:sym typeface="Courier New"/>
              </a:rPr>
              <a:t>scene/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074920" y="166420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GameObject, Component, Scene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731520" y="2468880"/>
            <a:ext cx="3840480" cy="1005840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731520" y="2468880"/>
            <a:ext cx="54864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960120" y="246888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41C3D"/>
                </a:solidFill>
                <a:latin typeface="Courier New"/>
                <a:ea typeface="Courier New"/>
                <a:cs typeface="Courier New"/>
                <a:sym typeface="Courier New"/>
              </a:rPr>
              <a:t>core/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960120" y="285292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Logger, LoggerManager, LogLevel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846320" y="2468880"/>
            <a:ext cx="3840480" cy="1005840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846320" y="2468880"/>
            <a:ext cx="54864" cy="1005840"/>
          </a:xfrm>
          <a:prstGeom prst="rect">
            <a:avLst/>
          </a:prstGeom>
          <a:solidFill>
            <a:srgbClr val="2D93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5074920" y="246888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41C3D"/>
                </a:solidFill>
                <a:latin typeface="Courier New"/>
                <a:ea typeface="Courier New"/>
                <a:cs typeface="Courier New"/>
                <a:sym typeface="Courier New"/>
              </a:rPr>
              <a:t>input/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074920" y="285292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InputManager, InputProfile, GamepadState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731520" y="3657600"/>
            <a:ext cx="3840480" cy="1005840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731520" y="3657600"/>
            <a:ext cx="54864" cy="1005840"/>
          </a:xfrm>
          <a:prstGeom prst="rect">
            <a:avLst/>
          </a:prstGeom>
          <a:solidFill>
            <a:srgbClr val="5647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960120" y="36576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41C3D"/>
                </a:solidFill>
                <a:latin typeface="Courier New"/>
                <a:ea typeface="Courier New"/>
                <a:cs typeface="Courier New"/>
                <a:sym typeface="Courier New"/>
              </a:rPr>
              <a:t>audio/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960120" y="404164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Sound, SoundGenerator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846320" y="3657600"/>
            <a:ext cx="3840480" cy="1005840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4846320" y="3657600"/>
            <a:ext cx="54864" cy="100584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5074920" y="36576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41C3D"/>
                </a:solidFill>
                <a:latin typeface="Courier New"/>
                <a:ea typeface="Courier New"/>
                <a:cs typeface="Courier New"/>
                <a:sym typeface="Courier New"/>
              </a:rPr>
              <a:t>graphics/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074920" y="404164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Sprite, SpriteAnimation, SpriteAtlas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6 modules  ·  20+ classes  ·  </a:t>
            </a:r>
            <a:r>
              <a:rPr b="1" lang="en-US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1354</a:t>
            </a:r>
            <a:r>
              <a:rPr b="1" i="0" lang="en-US" sz="14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 total tests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41C3D"/>
                </a:solidFill>
                <a:latin typeface="Georgia"/>
                <a:ea typeface="Georgia"/>
                <a:cs typeface="Georgia"/>
                <a:sym typeface="Georgia"/>
              </a:rPr>
              <a:t>Testing Approach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731520" y="1143000"/>
            <a:ext cx="7680960" cy="685800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731520" y="1143000"/>
            <a:ext cx="54864" cy="685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1051560" y="11430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rPr>
              <a:t>Phase 1: Blackbox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572000" y="11430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Equivalence Partitioning, Boundary Analysis, Error Guessing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Tested all public APIs without looking at source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731520" y="1947672"/>
            <a:ext cx="7680960" cy="685800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731520" y="1947672"/>
            <a:ext cx="54864" cy="685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1051560" y="1947672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rPr>
              <a:t>Phase 2: Combinatorial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572000" y="1947672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PWC, ECC, ACoC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interaction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Systematic input combination coverage for complex parameter spaces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731520" y="2752344"/>
            <a:ext cx="7680960" cy="685800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731520" y="2752344"/>
            <a:ext cx="54864" cy="6858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1051560" y="2752344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rPr>
              <a:t>Phase 3: </a:t>
            </a:r>
            <a:r>
              <a:rPr b="1" lang="en-US" sz="1500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r>
              <a:rPr b="1" i="0" lang="en-US" sz="1500" u="none" cap="none" strike="noStrike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rPr>
              <a:t>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572000" y="2752344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Greybox integration testing of engine subsystems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Validated user interaction flows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731520" y="3557016"/>
            <a:ext cx="7680960" cy="685800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731520" y="3557016"/>
            <a:ext cx="54864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1051560" y="3557016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rPr>
              <a:t>Phase 4: Whitebox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0" y="3557016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Branch coverage via coverage.py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Targeted uncovered branches to maximize code coverage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31520" y="4361688"/>
            <a:ext cx="7680960" cy="685800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731520" y="4361688"/>
            <a:ext cx="54864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1051560" y="4361688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rPr>
              <a:t>Phase 5: Mutation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572000" y="4361688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mutmut v2.5.1 on all 10 source 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Wrote targeted mutation-killing tests for surviving mutants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41C3D"/>
                </a:solidFill>
                <a:latin typeface="Georgia"/>
                <a:ea typeface="Georgia"/>
                <a:cs typeface="Georgia"/>
                <a:sym typeface="Georgia"/>
              </a:rPr>
              <a:t>Blackbox Testing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Techniques: Equivalence Partitioning  ·  Boundary Analysis  ·  Error Guessing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8"/>
          <p:cNvGraphicFramePr/>
          <p:nvPr/>
        </p:nvGraphicFramePr>
        <p:xfrm>
          <a:off x="73152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{F6A6ADBA-60EB-41D1-BE16-6E0DCC5AB70D}</a:tableStyleId>
              </a:tblPr>
              <a:tblGrid>
                <a:gridCol w="2743200"/>
                <a:gridCol w="1097275"/>
                <a:gridCol w="38404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File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Scenarios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test_vector2.py / test_vector3.py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math/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Arithmetic, normalize, distance, angle, lerp, zero division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test_quaternion.py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math/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Hamilton product, rotation, slerp, gimbal lock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test_game_object.py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scene/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 lifecycle, tags, destroy, transform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test_scene.py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scene/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Add/remove objects, find by name/tag, z-order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test_logger.py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core/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Level filtering, stream routing, color toggle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test_input_manager.py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input/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press/release, mouse, gamepad, profiles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test_sound_generator.py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audio/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Waveforms, sweeps, explosion/engine sounds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test_sprite.py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graphics/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Animation, atlas UV, collision, shader effects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p8"/>
          <p:cNvSpPr/>
          <p:nvPr/>
        </p:nvSpPr>
        <p:spPr>
          <a:xfrm>
            <a:off x="731520" y="4434840"/>
            <a:ext cx="7680960" cy="54864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731520" y="44348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~5</a:t>
            </a:r>
            <a:r>
              <a:rPr b="1" lang="en-US" sz="2800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r>
              <a:rPr b="1" i="0" lang="en-US" sz="28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blackbox tests across 1</a:t>
            </a: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test files covering all public APIs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/>
        </p:nvSpPr>
        <p:spPr>
          <a:xfrm>
            <a:off x="731520" y="36576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41C3D"/>
                </a:solidFill>
                <a:latin typeface="Georgia"/>
                <a:ea typeface="Georgia"/>
                <a:cs typeface="Georgia"/>
                <a:sym typeface="Georgia"/>
              </a:rPr>
              <a:t>Combinatorial Testing Strategy</a:t>
            </a:r>
            <a:endParaRPr b="1" sz="3600">
              <a:solidFill>
                <a:srgbClr val="141C3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42" name="Google Shape;142;p9"/>
          <p:cNvGrpSpPr/>
          <p:nvPr/>
        </p:nvGrpSpPr>
        <p:grpSpPr>
          <a:xfrm>
            <a:off x="731520" y="1095375"/>
            <a:ext cx="7680900" cy="1428900"/>
            <a:chOff x="731520" y="1095375"/>
            <a:chExt cx="7680900" cy="1428900"/>
          </a:xfrm>
        </p:grpSpPr>
        <p:sp>
          <p:nvSpPr>
            <p:cNvPr id="143" name="Google Shape;143;p9"/>
            <p:cNvSpPr/>
            <p:nvPr/>
          </p:nvSpPr>
          <p:spPr>
            <a:xfrm>
              <a:off x="731520" y="1095375"/>
              <a:ext cx="7680900" cy="1428900"/>
            </a:xfrm>
            <a:prstGeom prst="rect">
              <a:avLst/>
            </a:prstGeom>
            <a:solidFill>
              <a:srgbClr val="E8ED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731520" y="1095375"/>
              <a:ext cx="54900" cy="1428900"/>
            </a:xfrm>
            <a:prstGeom prst="rect">
              <a:avLst/>
            </a:prstGeom>
            <a:solidFill>
              <a:srgbClr val="8E44A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9"/>
            <p:cNvSpPr txBox="1"/>
            <p:nvPr/>
          </p:nvSpPr>
          <p:spPr>
            <a:xfrm>
              <a:off x="1051560" y="1190625"/>
              <a:ext cx="7132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1C3D"/>
                  </a:solidFill>
                  <a:latin typeface="Calibri"/>
                  <a:ea typeface="Calibri"/>
                  <a:cs typeface="Calibri"/>
                  <a:sym typeface="Calibri"/>
                </a:rPr>
                <a:t>How We Implemented It</a:t>
              </a:r>
              <a:endParaRPr b="1" sz="1600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9"/>
            <p:cNvSpPr txBox="1"/>
            <p:nvPr/>
          </p:nvSpPr>
          <p:spPr>
            <a:xfrm>
              <a:off x="1051560" y="1476375"/>
              <a:ext cx="7132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Tool:</a:t>
              </a:r>
              <a:r>
                <a:rPr b="0" lang="en-US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allpairspy + pytest parametrization</a:t>
              </a:r>
              <a:endParaRPr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375"/>
                </a:spcAft>
                <a:buNone/>
              </a:pPr>
              <a:r>
                <a:rPr b="1" lang="en-US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Coverage Strategies:</a:t>
              </a:r>
              <a:r>
                <a:rPr b="0" lang="en-US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PWC (Pairwise), ACoC (All Combinations), ECC (Each Choice)</a:t>
              </a:r>
              <a:endParaRPr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9"/>
          <p:cNvGrpSpPr/>
          <p:nvPr/>
        </p:nvGrpSpPr>
        <p:grpSpPr>
          <a:xfrm>
            <a:off x="731520" y="2619375"/>
            <a:ext cx="7680900" cy="1714500"/>
            <a:chOff x="731520" y="2619375"/>
            <a:chExt cx="7680900" cy="1714500"/>
          </a:xfrm>
        </p:grpSpPr>
        <p:sp>
          <p:nvSpPr>
            <p:cNvPr id="148" name="Google Shape;148;p9"/>
            <p:cNvSpPr/>
            <p:nvPr/>
          </p:nvSpPr>
          <p:spPr>
            <a:xfrm>
              <a:off x="731520" y="2619375"/>
              <a:ext cx="7680900" cy="1714500"/>
            </a:xfrm>
            <a:prstGeom prst="rect">
              <a:avLst/>
            </a:prstGeom>
            <a:solidFill>
              <a:srgbClr val="E8ED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731520" y="2619375"/>
              <a:ext cx="54900" cy="1714500"/>
            </a:xfrm>
            <a:prstGeom prst="rect">
              <a:avLst/>
            </a:prstGeom>
            <a:solidFill>
              <a:srgbClr val="8E44A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9"/>
            <p:cNvSpPr txBox="1"/>
            <p:nvPr/>
          </p:nvSpPr>
          <p:spPr>
            <a:xfrm>
              <a:off x="1051560" y="2714625"/>
              <a:ext cx="7132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1C3D"/>
                  </a:solidFill>
                  <a:latin typeface="Calibri"/>
                  <a:ea typeface="Calibri"/>
                  <a:cs typeface="Calibri"/>
                  <a:sym typeface="Calibri"/>
                </a:rPr>
                <a:t>Why Only Math, Graphics, Audio?</a:t>
              </a:r>
              <a:endParaRPr b="1" sz="1600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9"/>
            <p:cNvSpPr txBox="1"/>
            <p:nvPr/>
          </p:nvSpPr>
          <p:spPr>
            <a:xfrm>
              <a:off x="1051560" y="3000375"/>
              <a:ext cx="71322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Targeted core modules where parameter interactions are most critical:</a:t>
              </a:r>
              <a:endParaRPr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Math:</a:t>
              </a:r>
              <a:r>
                <a:rPr b="0" lang="en-US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Pure mathematical functions vs. integration/initialization logic</a:t>
              </a:r>
              <a:endParaRPr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Graphics:</a:t>
              </a:r>
              <a:r>
                <a:rPr b="0" lang="en-US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Drawing operations depend on geometry vs. state machines</a:t>
              </a:r>
              <a:endParaRPr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1" lang="en-US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Audio:</a:t>
              </a:r>
              <a:r>
                <a:rPr b="0" lang="en-US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Waveform/synthesis combinations</a:t>
              </a:r>
              <a:endParaRPr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/>
          <p:nvPr/>
        </p:nvSpPr>
        <p:spPr>
          <a:xfrm>
            <a:off x="731520" y="365760"/>
            <a:ext cx="7680900" cy="64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41C3D"/>
                </a:solidFill>
                <a:latin typeface="Georgia"/>
                <a:ea typeface="Georgia"/>
                <a:cs typeface="Georgia"/>
                <a:sym typeface="Georgia"/>
              </a:rPr>
              <a:t>Integration Testing</a:t>
            </a:r>
            <a:endParaRPr b="1" sz="3600">
              <a:solidFill>
                <a:srgbClr val="141C3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731520" y="1005840"/>
            <a:ext cx="76809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Greybox integration testing of engine subsytems</a:t>
            </a:r>
            <a:endParaRPr b="0" sz="1400">
              <a:solidFill>
                <a:srgbClr val="4A90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" name="Google Shape;159;p10"/>
          <p:cNvGrpSpPr/>
          <p:nvPr/>
        </p:nvGrpSpPr>
        <p:grpSpPr>
          <a:xfrm>
            <a:off x="731520" y="1524000"/>
            <a:ext cx="3714900" cy="3048000"/>
            <a:chOff x="731520" y="1524000"/>
            <a:chExt cx="3714900" cy="3048000"/>
          </a:xfrm>
        </p:grpSpPr>
        <p:sp>
          <p:nvSpPr>
            <p:cNvPr id="160" name="Google Shape;160;p10"/>
            <p:cNvSpPr/>
            <p:nvPr/>
          </p:nvSpPr>
          <p:spPr>
            <a:xfrm>
              <a:off x="731520" y="1524000"/>
              <a:ext cx="3714900" cy="3048000"/>
            </a:xfrm>
            <a:prstGeom prst="roundRect">
              <a:avLst>
                <a:gd fmla="val 25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0"/>
            <p:cNvSpPr/>
            <p:nvPr/>
          </p:nvSpPr>
          <p:spPr>
            <a:xfrm>
              <a:off x="731520" y="1524000"/>
              <a:ext cx="47700" cy="3048000"/>
            </a:xfrm>
            <a:prstGeom prst="rect">
              <a:avLst/>
            </a:prstGeom>
            <a:solidFill>
              <a:srgbClr val="D354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0"/>
            <p:cNvSpPr txBox="1"/>
            <p:nvPr/>
          </p:nvSpPr>
          <p:spPr>
            <a:xfrm>
              <a:off x="922020" y="1666875"/>
              <a:ext cx="3333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41C3D"/>
                  </a:solidFill>
                  <a:latin typeface="Calibri"/>
                  <a:ea typeface="Calibri"/>
                  <a:cs typeface="Calibri"/>
                  <a:sym typeface="Calibri"/>
                </a:rPr>
                <a:t>Approach</a:t>
              </a:r>
              <a:endParaRPr b="1" sz="1800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0"/>
            <p:cNvSpPr txBox="1"/>
            <p:nvPr/>
          </p:nvSpPr>
          <p:spPr>
            <a:xfrm>
              <a:off x="922020" y="2143125"/>
              <a:ext cx="3333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Graybox Testing</a:t>
              </a:r>
              <a:endParaRPr b="1" sz="111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i="1" lang="en-US" sz="111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Access game internals for assertions while testing through game API</a:t>
              </a:r>
              <a:endParaRPr i="1" sz="111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Simulated Input</a:t>
              </a:r>
              <a:endParaRPr b="1" sz="111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i="1" lang="en-US" sz="111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Keyboard input through input manager + scene updates</a:t>
              </a:r>
              <a:endParaRPr i="1" sz="111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No Rendering</a:t>
              </a:r>
              <a:endParaRPr b="1" sz="111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i="1" lang="en-US" sz="111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Tests game logic without Tkinter window output</a:t>
              </a:r>
              <a:endParaRPr i="1" sz="111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0"/>
          <p:cNvGrpSpPr/>
          <p:nvPr/>
        </p:nvGrpSpPr>
        <p:grpSpPr>
          <a:xfrm>
            <a:off x="4697730" y="1524000"/>
            <a:ext cx="3714900" cy="3048000"/>
            <a:chOff x="4697730" y="1524000"/>
            <a:chExt cx="3714900" cy="3048000"/>
          </a:xfrm>
        </p:grpSpPr>
        <p:sp>
          <p:nvSpPr>
            <p:cNvPr id="165" name="Google Shape;165;p10"/>
            <p:cNvSpPr/>
            <p:nvPr/>
          </p:nvSpPr>
          <p:spPr>
            <a:xfrm>
              <a:off x="4697730" y="1524000"/>
              <a:ext cx="3714900" cy="3048000"/>
            </a:xfrm>
            <a:prstGeom prst="roundRect">
              <a:avLst>
                <a:gd fmla="val 25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4697730" y="1524000"/>
              <a:ext cx="47700" cy="3048000"/>
            </a:xfrm>
            <a:prstGeom prst="rect">
              <a:avLst/>
            </a:prstGeom>
            <a:solidFill>
              <a:srgbClr val="3449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0"/>
            <p:cNvSpPr txBox="1"/>
            <p:nvPr/>
          </p:nvSpPr>
          <p:spPr>
            <a:xfrm>
              <a:off x="4888230" y="1666875"/>
              <a:ext cx="3333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41C3D"/>
                  </a:solidFill>
                  <a:latin typeface="Calibri"/>
                  <a:ea typeface="Calibri"/>
                  <a:cs typeface="Calibri"/>
                  <a:sym typeface="Calibri"/>
                </a:rPr>
                <a:t>Scenarios Tested</a:t>
              </a:r>
              <a:endParaRPr b="1" sz="1800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0"/>
            <p:cNvSpPr txBox="1"/>
            <p:nvPr/>
          </p:nvSpPr>
          <p:spPr>
            <a:xfrm>
              <a:off x="4888230" y="2143125"/>
              <a:ext cx="3333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Input Handling</a:t>
              </a:r>
              <a:endParaRPr b="1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Keyboard input → paddle movement, boundary constraints, multi-frame accumulation</a:t>
              </a:r>
              <a:endParaRPr i="1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Physics &amp; Collisions</a:t>
              </a:r>
              <a:endParaRPr b="1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Wall bounces, paddle collision, brick destruction, speed scaling, sequence handling</a:t>
              </a:r>
              <a:endParaRPr i="1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Game State</a:t>
              </a:r>
              <a:endParaRPr b="1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Scoring system, lives management, state transitions (playing → game_over → level_complete)</a:t>
              </a:r>
              <a:endParaRPr i="1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41C3D"/>
                </a:solidFill>
                <a:latin typeface="Georgia"/>
                <a:ea typeface="Georgia"/>
                <a:cs typeface="Georgia"/>
                <a:sym typeface="Georgia"/>
              </a:rPr>
              <a:t>Branch Coverage Results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731520" y="1188720"/>
            <a:ext cx="3200400" cy="18288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731520" y="1234440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Georgia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r>
              <a:rPr b="1" lang="en-US" sz="6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r>
              <a:rPr b="1" i="0" lang="en-US" sz="6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731520" y="22860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branch coverage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 testable modules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Achieved via targeted whitebox tests for uncovered branches (coverage.py)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240" y="1188720"/>
            <a:ext cx="4572000" cy="338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/>
          <p:nvPr/>
        </p:nvSpPr>
        <p:spPr>
          <a:xfrm>
            <a:off x="731520" y="36576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41C3D"/>
                </a:solidFill>
                <a:latin typeface="Georgia"/>
                <a:ea typeface="Georgia"/>
                <a:cs typeface="Georgia"/>
                <a:sym typeface="Georgia"/>
              </a:rPr>
              <a:t>Mutation Testing Results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731520" y="960120"/>
            <a:ext cx="768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Tool: mutmut v2.5.1  ·  1,685 total mutants generated across 10 modules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12"/>
          <p:cNvGraphicFramePr/>
          <p:nvPr/>
        </p:nvGraphicFramePr>
        <p:xfrm>
          <a:off x="73152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{F6A6ADBA-60EB-41D1-BE16-6E0DCC5AB70D}</a:tableStyleId>
              </a:tblPr>
              <a:tblGrid>
                <a:gridCol w="1828800"/>
                <a:gridCol w="914400"/>
                <a:gridCol w="914400"/>
                <a:gridCol w="914400"/>
                <a:gridCol w="31089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Mutants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Killed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vector2.py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equivalent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vector3.py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 equivalent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quaternion.py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C12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39C1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Equivalent @staticmethod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transform.py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equivalent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game_object.py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type annotation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scene.py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killed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logger.py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Color code strings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input_manager.py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C12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39C1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map strings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sound_generator.py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Numeric constants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3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sprite.py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C12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39C1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Default values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12"/>
          <p:cNvSpPr/>
          <p:nvPr/>
        </p:nvSpPr>
        <p:spPr>
          <a:xfrm>
            <a:off x="731520" y="4297680"/>
            <a:ext cx="7680900" cy="64020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"/>
          <p:cNvSpPr/>
          <p:nvPr/>
        </p:nvSpPr>
        <p:spPr>
          <a:xfrm>
            <a:off x="731520" y="429768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1,353 / 1,685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mutants killed overall (80%)  ·  Many survivors are equivalent mutants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41C3D"/>
                </a:solidFill>
                <a:latin typeface="Georgia"/>
                <a:ea typeface="Georgia"/>
                <a:cs typeface="Georgia"/>
                <a:sym typeface="Georgia"/>
              </a:rPr>
              <a:t>Equivalent Mutants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Mutants that change code but not behavior — impossible to kill with any test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731520" y="1554480"/>
            <a:ext cx="7680960" cy="1005840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"/>
          <p:cNvSpPr/>
          <p:nvPr/>
        </p:nvSpPr>
        <p:spPr>
          <a:xfrm>
            <a:off x="731520" y="1554480"/>
            <a:ext cx="54864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1051560" y="15544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rPr>
              <a:t>@staticmethod removal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1051560" y="1847088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 Python 3, calling a no-arg static method on a class works identically whether decorated or not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731520" y="2697480"/>
            <a:ext cx="7680960" cy="1005840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"/>
          <p:cNvSpPr/>
          <p:nvPr/>
        </p:nvSpPr>
        <p:spPr>
          <a:xfrm>
            <a:off x="731520" y="2697480"/>
            <a:ext cx="54864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1051560" y="26974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rPr>
              <a:t>Type annotation strings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1051560" y="2990088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does not enforce type annotations at runtime — changing the string has zero observable effect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731520" y="3840480"/>
            <a:ext cx="54864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"/>
          <p:cNvSpPr/>
          <p:nvPr/>
        </p:nvSpPr>
        <p:spPr>
          <a:xfrm>
            <a:off x="1051560" y="38404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1C3D"/>
                </a:solidFill>
                <a:latin typeface="Calibri"/>
                <a:ea typeface="Calibri"/>
                <a:cs typeface="Calibri"/>
                <a:sym typeface="Calibri"/>
              </a:rPr>
              <a:t>acos() clamp bound changes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1051560" y="4133088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dot/mag naturally stays in [-1, 1] for unit vectors, so the clamp never activates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3D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Faults Discovered in the SUT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731520" y="1280160"/>
            <a:ext cx="7680960" cy="15544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/>
          <p:nvPr/>
        </p:nvSpPr>
        <p:spPr>
          <a:xfrm>
            <a:off x="731520" y="1280160"/>
            <a:ext cx="54864" cy="1554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1051560" y="128016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1: mouse_buttons_just_released always empty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1051560" y="169164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 InputManager.update(), previous_mouse_buttons is overwritten with the current state BEFORE the diff is calculated. The "just released" set is computed as previous - current, but since previous was just set to current, the diff is always empty.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1051560" y="237744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Impact: Any game logic relying on mouse button release detection will never trigger.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731520" y="3063240"/>
            <a:ext cx="7680960" cy="15544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"/>
          <p:cNvSpPr/>
          <p:nvPr/>
        </p:nvSpPr>
        <p:spPr>
          <a:xfrm>
            <a:off x="731520" y="3063240"/>
            <a:ext cx="54864" cy="1554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1051560" y="306324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2: gamepad buttons_just_pressed always empty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1051560" y="347472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Same root cause as Bug 1. In _update_gamepad_state(), previous_buttons is overwritten with current state before computing buttons_just_pressed = current - previous. Since they are now identical, the result is always an empty set.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1051560" y="416052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Impact: Gamepad "just pressed" events never fire — breaks single-press actions like jump or shoot.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3D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/>
          <p:nvPr/>
        </p:nvSpPr>
        <p:spPr>
          <a:xfrm>
            <a:off x="731520" y="36576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Faults Discovered in the SUT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731520" y="1280160"/>
            <a:ext cx="7680900" cy="15546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731520" y="1280160"/>
            <a:ext cx="54900" cy="1554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"/>
          <p:cNvSpPr/>
          <p:nvPr/>
        </p:nvSpPr>
        <p:spPr>
          <a:xfrm>
            <a:off x="1051560" y="1280160"/>
            <a:ext cx="7132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 Timing Bug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1051560" y="1691640"/>
            <a:ext cx="7132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 SpriteAnimation's update() method, when delta_time exceeds frame_duration, the timer is reset to 0 instead of carrying over the excess time to the next frame.</a:t>
            </a:r>
            <a:endParaRPr sz="12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1051560" y="2377440"/>
            <a:ext cx="713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Impact: </a:t>
            </a:r>
            <a:r>
              <a:rPr i="1" lang="en-US" sz="1200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Excess time is discarded, causing animation frames to be skipped when a frame takes longer than expected (e.g., during system slowdowns).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731520" y="3063240"/>
            <a:ext cx="7680900" cy="15546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5"/>
          <p:cNvSpPr/>
          <p:nvPr/>
        </p:nvSpPr>
        <p:spPr>
          <a:xfrm>
            <a:off x="731520" y="3063240"/>
            <a:ext cx="54900" cy="1554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"/>
          <p:cNvSpPr/>
          <p:nvPr/>
        </p:nvSpPr>
        <p:spPr>
          <a:xfrm>
            <a:off x="1051560" y="3063240"/>
            <a:ext cx="7132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Triangle Point Containment Bug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1051560" y="3474720"/>
            <a:ext cx="7132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 Sprite's contains_point() method, the code only handles two shape types: circle and then uses an else clause for everything else. This means triangle shapes are checked using rectangle collision logic instead of triangle logic.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1051560" y="4160520"/>
            <a:ext cx="713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Impact: </a:t>
            </a:r>
            <a:r>
              <a:rPr i="1" lang="en-US" sz="1200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Triangle-shaped sprites incorrectly report hit detection as if they were rectangles.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"/>
          <p:cNvSpPr/>
          <p:nvPr/>
        </p:nvSpPr>
        <p:spPr>
          <a:xfrm>
            <a:off x="731520" y="1371600"/>
            <a:ext cx="768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Live Demo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731520" y="2286000"/>
            <a:ext cx="768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Running tests against the SUT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1371600" y="2834640"/>
            <a:ext cx="6400800" cy="320100"/>
          </a:xfrm>
          <a:prstGeom prst="rect">
            <a:avLst/>
          </a:prstGeom>
          <a:solidFill>
            <a:srgbClr val="141C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1508760" y="2834640"/>
            <a:ext cx="612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python -m pytest tests/ -v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1371600" y="3218688"/>
            <a:ext cx="6400800" cy="320100"/>
          </a:xfrm>
          <a:prstGeom prst="rect">
            <a:avLst/>
          </a:prstGeom>
          <a:solidFill>
            <a:srgbClr val="141C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6"/>
          <p:cNvSpPr/>
          <p:nvPr/>
        </p:nvSpPr>
        <p:spPr>
          <a:xfrm>
            <a:off x="1508760" y="3218688"/>
            <a:ext cx="612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coverage run --branch --omit="tests/*,..." -m pytest tests/ -q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1371600" y="3602736"/>
            <a:ext cx="6400800" cy="320100"/>
          </a:xfrm>
          <a:prstGeom prst="rect">
            <a:avLst/>
          </a:prstGeom>
          <a:solidFill>
            <a:srgbClr val="141C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"/>
          <p:cNvSpPr/>
          <p:nvPr/>
        </p:nvSpPr>
        <p:spPr>
          <a:xfrm>
            <a:off x="1508760" y="3602736"/>
            <a:ext cx="612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coverage report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1371600" y="3986784"/>
            <a:ext cx="6400800" cy="320100"/>
          </a:xfrm>
          <a:prstGeom prst="rect">
            <a:avLst/>
          </a:prstGeom>
          <a:solidFill>
            <a:srgbClr val="141C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1508760" y="3986784"/>
            <a:ext cx="612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coverage html &amp;&amp; open htmlcov/index.html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3D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731520" y="1188720"/>
            <a:ext cx="1828800" cy="11887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731520" y="12344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lang="en-US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1354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731520" y="1920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Tests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2743200" y="1188720"/>
            <a:ext cx="1828800" cy="11887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7"/>
          <p:cNvSpPr/>
          <p:nvPr/>
        </p:nvSpPr>
        <p:spPr>
          <a:xfrm>
            <a:off x="2743200" y="12344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r>
              <a:rPr b="1" lang="en-US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2743200" y="1920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Branch Coverage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4754880" y="1188720"/>
            <a:ext cx="1828800" cy="11887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"/>
          <p:cNvSpPr/>
          <p:nvPr/>
        </p:nvSpPr>
        <p:spPr>
          <a:xfrm>
            <a:off x="4754880" y="12344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lang="en-US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4754880" y="1920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Real Bugs Found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6766560" y="1188720"/>
            <a:ext cx="1828800" cy="11887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7"/>
          <p:cNvSpPr/>
          <p:nvPr/>
        </p:nvSpPr>
        <p:spPr>
          <a:xfrm>
            <a:off x="6766560" y="12344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6766560" y="1920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Modules Tested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731520" y="265176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914400" y="3154674"/>
            <a:ext cx="73152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Blackbox tests catch functional issues; whitebox finds hidden branches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Mutation testing reveals test quality gaps that coverage alone misses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Equivalent mutants are a real challenge — require manual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Real bugs found in a published open-source project through systematic testing</a:t>
            </a:r>
            <a:endParaRPr b="0" i="0" sz="13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Combinatorial testing uncovers parameter interaction bugs that coverage metrics miss.</a:t>
            </a:r>
            <a:endParaRPr sz="13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3D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Questions?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3840480" y="3474720"/>
            <a:ext cx="146304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